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0292"/>
          </a:xfrm>
          <a:prstGeom prst="rect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502920" cy="502920"/>
          </a:xfrm>
          <a:prstGeom prst="rect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64592"/>
            <a:ext cx="484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CHAOS TESTING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Enterprise Resilience Engineering  ·  AI-Powered Fault Injection  ·  Real-Time Observability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9752" y="292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2277FF"/>
                </a:solidFill>
              </a:rPr>
              <a:t>01  /  PROBLEM STATEMENT &amp; ABSTRACT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353312"/>
            <a:ext cx="5468112" cy="5193792"/>
          </a:xfrm>
          <a:prstGeom prst="rect">
            <a:avLst/>
          </a:prstGeom>
          <a:solidFill>
            <a:srgbClr val="1327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353312"/>
            <a:ext cx="5468112" cy="502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463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3F5E"/>
                </a:solidFill>
              </a:rP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719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existing approaches fail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093976"/>
            <a:ext cx="310896" cy="31089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09397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08483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Unpredictable failure modes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2257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Latency spikes, cascading errors and payload corruption cannot be replicated or anticipated in staging environments.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898648"/>
            <a:ext cx="310896" cy="31089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89864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8895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Heavyweight tooling barrier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2724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Existing platforms (Chaos Monkey, Gremlin) require dedicated infra and SRE expertise — inaccessible for dev-loop testing.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703320"/>
            <a:ext cx="310896" cy="31089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70332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69417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Zero real-time 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93192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Teams inject faults blindly with no live metrics, per-route breakdown, or request-level audit trail.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507992"/>
            <a:ext cx="310896" cy="31089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450799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49884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Manual post-mortems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736592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AI-driven insights are absent. Root cause analysis is slow, labour-intensive and arrives too late.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353312"/>
            <a:ext cx="5989320" cy="5193792"/>
          </a:xfrm>
          <a:prstGeom prst="rect">
            <a:avLst/>
          </a:prstGeom>
          <a:solidFill>
            <a:srgbClr val="1327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1353312"/>
            <a:ext cx="5989320" cy="50292"/>
          </a:xfrm>
          <a:prstGeom prst="rect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3056" y="146304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77FF"/>
                </a:solidFill>
              </a:rPr>
              <a:t>THE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3056" y="17190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 unified chaos engineering platform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53328" y="2048256"/>
            <a:ext cx="50292" cy="1234440"/>
          </a:xfrm>
          <a:prstGeom prst="rect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20848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77FF"/>
                </a:solidFill>
              </a:rPr>
              <a:t>Intelligent Chaos Proxy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2340864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Go reverse-proxy auto-discovers all routes and intercepts live traffic — inject latency, HTTP errors, or payload corruption per route with a single configuration change.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53328" y="3438144"/>
            <a:ext cx="5029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6208" y="3474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Real-Time React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6208" y="3730752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Live metrics, adaptive request timeline, 5-dimension filtering, and route-level chaos control — all without touching the terminal.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53328" y="4828032"/>
            <a:ext cx="50292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48646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AI Analysis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5120640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Ollama LLM scores system health (0-100), surfaces error patterns, flags anomalies and delivers prioritised recommendations automatically — zero post-mortem effort.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63056" y="6272784"/>
            <a:ext cx="1353312" cy="237744"/>
          </a:xfrm>
          <a:prstGeom prst="rect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6208" y="6309360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Go 1.22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26096" y="6272784"/>
            <a:ext cx="1353312" cy="237744"/>
          </a:xfrm>
          <a:prstGeom prst="rect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99248" y="6309360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React + TypeScript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89136" y="6272784"/>
            <a:ext cx="1353312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62288" y="6309360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Ollama LLM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52176" y="6272784"/>
            <a:ext cx="1353312" cy="237744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25328" y="6309360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Tailwind CSS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60196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Confidential — Board Presentation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74552" y="660196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94A3B8"/>
                </a:solidFill>
              </a:rPr>
              <a:t>1  / 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BOB IN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0080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How our team used the Bob IDE to design, build, debug and ship a production-ready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1352" y="2926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59E0B"/>
                </a:solidFill>
              </a:rPr>
              <a:t>02  /  BOB LEARNINGS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325880"/>
            <a:ext cx="3730752" cy="2286000"/>
          </a:xfrm>
          <a:prstGeom prst="rect">
            <a:avLst/>
          </a:prstGeom>
          <a:solidFill>
            <a:srgbClr val="1327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325880"/>
            <a:ext cx="3730752" cy="50292"/>
          </a:xfrm>
          <a:prstGeom prst="rect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453895"/>
            <a:ext cx="347472" cy="347472"/>
          </a:xfrm>
          <a:prstGeom prst="rect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453895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1472184"/>
            <a:ext cx="1225296" cy="201168"/>
          </a:xfrm>
          <a:prstGeom prst="rect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6624" y="1508760"/>
            <a:ext cx="11155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~2 hrs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444752"/>
            <a:ext cx="3035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Architecture
from a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1984248"/>
            <a:ext cx="34930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Described the full system in a single sentence. Bob returned a complete folder structure, tech stack, and data-flow diagram before a single file was opened.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325880"/>
            <a:ext cx="3730752" cy="2286000"/>
          </a:xfrm>
          <a:prstGeom prst="rect">
            <a:avLst/>
          </a:prstGeom>
          <a:solidFill>
            <a:srgbClr val="1327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1325880"/>
            <a:ext cx="3730752" cy="502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4255" y="1453895"/>
            <a:ext cx="347472" cy="34747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4255" y="1453895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79" y="1472184"/>
            <a:ext cx="1225296" cy="20116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1" y="1508760"/>
            <a:ext cx="11155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100%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1444752"/>
            <a:ext cx="3035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Go Structs →
TypeScript Types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5" y="1984248"/>
            <a:ext cx="34930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Pasted Go backend structs directly into Bob. Matching TypeScript interfaces were generated instantly — zero manual transcription, zero type drift across the stack.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56448" y="1325880"/>
            <a:ext cx="3730752" cy="2286000"/>
          </a:xfrm>
          <a:prstGeom prst="rect">
            <a:avLst/>
          </a:prstGeom>
          <a:solidFill>
            <a:srgbClr val="1327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56448" y="1325880"/>
            <a:ext cx="37307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84464" y="1453895"/>
            <a:ext cx="3474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4" y="1453895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33888" y="1472184"/>
            <a:ext cx="1225296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07040" y="1508760"/>
            <a:ext cx="11155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0 back-and-forth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3376" y="1444752"/>
            <a:ext cx="3035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Full API Wiring
in One Shot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1984248"/>
            <a:ext cx="34930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Asked Bob to wire the /chaos/analyze endpoint to a new Analysis page. It wrote the fetch call, typed the response, added the route and nav link — one prompt.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" y="3767328"/>
            <a:ext cx="3730752" cy="2286000"/>
          </a:xfrm>
          <a:prstGeom prst="rect">
            <a:avLst/>
          </a:prstGeom>
          <a:solidFill>
            <a:srgbClr val="1327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032" y="3767328"/>
            <a:ext cx="37307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4048" y="3895344"/>
            <a:ext cx="347472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33472" y="3913632"/>
            <a:ext cx="1225296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6624" y="3950208"/>
            <a:ext cx="11155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2 bugs caught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3886200"/>
            <a:ext cx="3035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Live Bug Triage
via Smoke Tests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4425696"/>
            <a:ext cx="34930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Bob ran curl smoke tests autonomously, spotted a Go nil-slice JSON bug and an LLM unit-suffix parsing failure — both diagnosed and fixed before the browser opened.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3767328"/>
            <a:ext cx="3730752" cy="2286000"/>
          </a:xfrm>
          <a:prstGeom prst="rect">
            <a:avLst/>
          </a:prstGeom>
          <a:solidFill>
            <a:srgbClr val="1327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06240" y="3767328"/>
            <a:ext cx="3730752" cy="502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34255" y="3895344"/>
            <a:ext cx="347472" cy="34747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34255" y="38953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79" y="3913632"/>
            <a:ext cx="1225296" cy="20116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6831" y="3950208"/>
            <a:ext cx="11155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3 sections cut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73168" y="3886200"/>
            <a:ext cx="3035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Dead Code Removal
on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34255" y="4425696"/>
            <a:ext cx="34930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Instructed Bob to remove UI controls not backed by the API. It diffed every field against proxy structs, removed three form sections and tightened TypeScript types — no regressions.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56448" y="3767328"/>
            <a:ext cx="3730752" cy="2286000"/>
          </a:xfrm>
          <a:prstGeom prst="rect">
            <a:avLst/>
          </a:prstGeom>
          <a:solidFill>
            <a:srgbClr val="1327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56448" y="3767328"/>
            <a:ext cx="37307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84464" y="3895344"/>
            <a:ext cx="3474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4464" y="38953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33888" y="3913632"/>
            <a:ext cx="1225296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07040" y="3950208"/>
            <a:ext cx="11155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Root cause in 30s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23376" y="3886200"/>
            <a:ext cx="3035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Adaptive Chart
Logic Diagnosis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4464" y="4425696"/>
            <a:ext cx="34930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Chart showed all zeros because of a fixed 10-minute time window. Bob diagnosed the stale-data bug, rewrote the bucketing function and explained the root cause in the same reply.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60196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Confidential — Board Presentation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74552" y="660196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94A3B8"/>
                </a:solidFill>
              </a:rPr>
              <a:t>2  / 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5029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OUTCOMES &amp;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0080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Measured results, time savings and the business case for AI-assisted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2" y="2926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0B981"/>
                </a:solidFill>
              </a:rPr>
              <a:t>03  /  IMPACT STATEMENT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316736"/>
            <a:ext cx="2816352" cy="1371600"/>
          </a:xfrm>
          <a:prstGeom prst="rect">
            <a:avLst/>
          </a:prstGeom>
          <a:solidFill>
            <a:srgbClr val="1327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316736"/>
            <a:ext cx="28163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426464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0B981"/>
                </a:solidFill>
              </a:rPr>
              <a:t>~2,200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029967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Lines of Production
Code Generated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276856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0B981"/>
                </a:solidFill>
              </a:rPr>
              <a:t>via Bob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316736"/>
            <a:ext cx="2816352" cy="1371600"/>
          </a:xfrm>
          <a:prstGeom prst="rect">
            <a:avLst/>
          </a:prstGeom>
          <a:solidFill>
            <a:srgbClr val="1327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316736"/>
            <a:ext cx="2816352" cy="50292"/>
          </a:xfrm>
          <a:prstGeom prst="rect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426464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2277FF"/>
                </a:solidFill>
              </a:rPr>
              <a:t>8+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7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Features Shipped
in One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276856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2277FF"/>
                </a:solidFill>
              </a:rPr>
              <a:t>end-to-end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8" y="1316736"/>
            <a:ext cx="2816352" cy="1371600"/>
          </a:xfrm>
          <a:prstGeom prst="rect">
            <a:avLst/>
          </a:prstGeom>
          <a:solidFill>
            <a:srgbClr val="1327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316736"/>
            <a:ext cx="28163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1426464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59E0B"/>
                </a:solidFill>
              </a:rPr>
              <a:t>~90%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029967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Development Time
Saved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276856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59E0B"/>
                </a:solidFill>
              </a:rPr>
              <a:t>vs. manual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26296" y="1316736"/>
            <a:ext cx="2816352" cy="1371600"/>
          </a:xfrm>
          <a:prstGeom prst="rect">
            <a:avLst/>
          </a:prstGeom>
          <a:solidFill>
            <a:srgbClr val="1327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26296" y="1316736"/>
            <a:ext cx="28163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17736" y="1426464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0B981"/>
                </a:solidFill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7736" y="2029967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TypeScript Errors
at Final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2276856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0B981"/>
                </a:solidFill>
              </a:rPr>
              <a:t>zero regressions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2852928"/>
            <a:ext cx="5687568" cy="3694176"/>
          </a:xfrm>
          <a:prstGeom prst="rect">
            <a:avLst/>
          </a:prstGeom>
          <a:solidFill>
            <a:srgbClr val="1327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2852928"/>
            <a:ext cx="5687568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9443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FEATURES DELIVERED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1638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Full platform shipped in one session</a:t>
            </a:r>
          </a:p>
        </p:txBody>
      </p:sp>
      <p:sp>
        <p:nvSpPr>
          <p:cNvPr id="33" name="Oval 32"/>
          <p:cNvSpPr/>
          <p:nvPr/>
        </p:nvSpPr>
        <p:spPr>
          <a:xfrm>
            <a:off x="443484" y="3525012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4747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Go chaos proxy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76272" y="34747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Auto-discovers routes, injects latency / errors / corruption</a:t>
            </a:r>
          </a:p>
        </p:txBody>
      </p:sp>
      <p:sp>
        <p:nvSpPr>
          <p:cNvPr id="36" name="Oval 35"/>
          <p:cNvSpPr/>
          <p:nvPr/>
        </p:nvSpPr>
        <p:spPr>
          <a:xfrm>
            <a:off x="443484" y="3872483"/>
            <a:ext cx="118872" cy="118872"/>
          </a:xfrm>
          <a:prstGeom prst="ellipse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8221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Blast-radius control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76272" y="38221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Header + value targeting per route</a:t>
            </a:r>
          </a:p>
        </p:txBody>
      </p:sp>
      <p:sp>
        <p:nvSpPr>
          <p:cNvPr id="39" name="Oval 38"/>
          <p:cNvSpPr/>
          <p:nvPr/>
        </p:nvSpPr>
        <p:spPr>
          <a:xfrm>
            <a:off x="443484" y="4219955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1696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React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76272" y="416966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Live metrics, adaptive timeline chart</a:t>
            </a:r>
          </a:p>
        </p:txBody>
      </p:sp>
      <p:sp>
        <p:nvSpPr>
          <p:cNvPr id="42" name="Oval 41"/>
          <p:cNvSpPr/>
          <p:nvPr/>
        </p:nvSpPr>
        <p:spPr>
          <a:xfrm>
            <a:off x="443484" y="4567427"/>
            <a:ext cx="118872" cy="118872"/>
          </a:xfrm>
          <a:prstGeom prst="ellipse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51713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Configuration page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76272" y="451713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Route rules, validation guardrails, CRUD</a:t>
            </a:r>
          </a:p>
        </p:txBody>
      </p:sp>
      <p:sp>
        <p:nvSpPr>
          <p:cNvPr id="45" name="Oval 44"/>
          <p:cNvSpPr/>
          <p:nvPr/>
        </p:nvSpPr>
        <p:spPr>
          <a:xfrm>
            <a:off x="443484" y="4914899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8646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Monitor page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76272" y="48646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Real-time log with 5-dimension filtering</a:t>
            </a:r>
          </a:p>
        </p:txBody>
      </p:sp>
      <p:sp>
        <p:nvSpPr>
          <p:cNvPr id="48" name="Oval 47"/>
          <p:cNvSpPr/>
          <p:nvPr/>
        </p:nvSpPr>
        <p:spPr>
          <a:xfrm>
            <a:off x="443484" y="5262371"/>
            <a:ext cx="118872" cy="118872"/>
          </a:xfrm>
          <a:prstGeom prst="ellipse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2120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 Analysis page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76272" y="521208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Health score, patterns, anomaly table</a:t>
            </a:r>
          </a:p>
        </p:txBody>
      </p:sp>
      <p:sp>
        <p:nvSpPr>
          <p:cNvPr id="51" name="Oval 50"/>
          <p:cNvSpPr/>
          <p:nvPr/>
        </p:nvSpPr>
        <p:spPr>
          <a:xfrm>
            <a:off x="443484" y="5609843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5595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Global chaos toggle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76272" y="555955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Enable / disable all routes in one PUT</a:t>
            </a:r>
          </a:p>
        </p:txBody>
      </p:sp>
      <p:sp>
        <p:nvSpPr>
          <p:cNvPr id="54" name="Oval 53"/>
          <p:cNvSpPr/>
          <p:nvPr/>
        </p:nvSpPr>
        <p:spPr>
          <a:xfrm>
            <a:off x="443484" y="5957315"/>
            <a:ext cx="118872" cy="118872"/>
          </a:xfrm>
          <a:prstGeom prst="ellipse">
            <a:avLst/>
          </a:prstGeom>
          <a:solidFill>
            <a:srgbClr val="22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9070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Type-safe integration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76272" y="590702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Every Go struct mirrored in TypeScript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44768" y="2852928"/>
            <a:ext cx="5788152" cy="3694176"/>
          </a:xfrm>
          <a:prstGeom prst="rect">
            <a:avLst/>
          </a:prstGeom>
          <a:solidFill>
            <a:srgbClr val="13274A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144768" y="2852928"/>
            <a:ext cx="57881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45936" y="29443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TIME &amp; COST SAVINGS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45936" y="31638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Before vs. After Bob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3511296"/>
            <a:ext cx="5431536" cy="1298448"/>
          </a:xfrm>
          <a:prstGeom prst="rect">
            <a:avLst/>
          </a:prstGeom>
          <a:solidFill>
            <a:srgbClr val="2A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73952" y="3566160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43F5E"/>
                </a:solidFill>
              </a:rPr>
              <a:t>WITHOUT BOB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3952" y="380390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Architecture + Scaffold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380390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43F5E"/>
                </a:solidFill>
              </a:rPr>
              <a:t>1 day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3952" y="402336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Go Backend Proxy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1280" y="402336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43F5E"/>
                </a:solidFill>
              </a:rPr>
              <a:t>2 days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3952" y="424281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React Frontend + Types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1280" y="424281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43F5E"/>
                </a:solidFill>
              </a:rPr>
              <a:t>2 days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73952" y="446227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API Integration &amp; Debug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1280" y="446227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43F5E"/>
                </a:solidFill>
              </a:rPr>
              <a:t>1 day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3952" y="468172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AI Analysis Feature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41280" y="468172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43F5E"/>
                </a:solidFill>
              </a:rPr>
              <a:t>1-2 days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4919472"/>
            <a:ext cx="5431536" cy="91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73952" y="495604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3F5E"/>
                </a:solidFill>
              </a:rPr>
              <a:t>TOTAL ESTIMATE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41280" y="495604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43F5E"/>
                </a:solidFill>
              </a:rPr>
              <a:t>7-8 days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4937760"/>
            <a:ext cx="5431536" cy="1316736"/>
          </a:xfrm>
          <a:prstGeom prst="rect">
            <a:avLst/>
          </a:prstGeom>
          <a:solidFill>
            <a:srgbClr val="0A2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73952" y="499262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WITH BOB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73952" y="523036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Full platform end-to-end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41280" y="523036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</a:rPr>
              <a:t>~1 session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73952" y="548640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Bugs found &amp; fixed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241280" y="548640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</a:rPr>
              <a:t>same session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73952" y="574243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Dead code removed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41280" y="574243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</a:rPr>
              <a:t>same session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09360" y="6016752"/>
            <a:ext cx="5431536" cy="91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73952" y="605332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TOTAL ACTUAL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241280" y="605332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</a:rPr>
              <a:t>4-5 hours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44768" y="6309360"/>
            <a:ext cx="578815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17920" y="6318504"/>
            <a:ext cx="5650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1224"/>
                </a:solidFill>
              </a:rPr>
              <a:t>Estimated  ~90% reduction in engineering time  ·  Cost equivalent: 7+ engineer-days saved per sprint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" y="6601968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Confidential — Board Presentation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274552" y="660196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94A3B8"/>
                </a:solidFill>
              </a:rPr>
              <a:t>3  / 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